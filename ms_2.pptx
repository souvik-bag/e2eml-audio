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19"/>
  </p:notesMasterIdLst>
  <p:sldIdLst>
    <p:sldId id="276" r:id="rId5"/>
    <p:sldId id="261" r:id="rId6"/>
    <p:sldId id="260" r:id="rId7"/>
    <p:sldId id="258" r:id="rId8"/>
    <p:sldId id="319" r:id="rId9"/>
    <p:sldId id="295" r:id="rId10"/>
    <p:sldId id="320" r:id="rId11"/>
    <p:sldId id="321" r:id="rId12"/>
    <p:sldId id="328" r:id="rId13"/>
    <p:sldId id="323" r:id="rId14"/>
    <p:sldId id="325" r:id="rId15"/>
    <p:sldId id="326" r:id="rId16"/>
    <p:sldId id="327" r:id="rId17"/>
    <p:sldId id="28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A1B7"/>
    <a:srgbClr val="D8ECFD"/>
    <a:srgbClr val="194561"/>
    <a:srgbClr val="FDB719"/>
    <a:srgbClr val="000000"/>
    <a:srgbClr val="F1B82D"/>
    <a:srgbClr val="7F7F7F"/>
    <a:srgbClr val="A7A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6164"/>
  </p:normalViewPr>
  <p:slideViewPr>
    <p:cSldViewPr snapToGrid="0">
      <p:cViewPr>
        <p:scale>
          <a:sx n="88" d="100"/>
          <a:sy n="88" d="100"/>
        </p:scale>
        <p:origin x="210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BD6A2-1E4C-4A1B-A60C-38307C02EA6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042B66-C61B-486A-A3C4-F02BC545E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20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2FA7CD-EB3F-444F-BA26-EC751FB98BD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930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2FB914EE-545E-E5E7-9E76-C072F9F6B9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4732" y="3520441"/>
            <a:ext cx="10502536" cy="1828800"/>
          </a:xfrm>
        </p:spPr>
        <p:txBody>
          <a:bodyPr/>
          <a:lstStyle>
            <a:lvl1pPr marL="0" indent="0" algn="ctr">
              <a:buNone/>
              <a:defRPr sz="2400" b="1" i="0" u="none" baseline="0">
                <a:solidFill>
                  <a:schemeClr val="accent6"/>
                </a:solidFill>
                <a:latin typeface="STIX Two Tex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Goes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F6FC692-23D0-04D3-2F6C-7C5D937BC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778476"/>
            <a:ext cx="10509250" cy="2741965"/>
          </a:xfrm>
        </p:spPr>
        <p:txBody>
          <a:bodyPr bIns="0" anchor="b" anchorCtr="0"/>
          <a:lstStyle>
            <a:lvl1pPr marL="0" indent="0" algn="ctr">
              <a:lnSpc>
                <a:spcPct val="70000"/>
              </a:lnSpc>
              <a:spcBef>
                <a:spcPts val="0"/>
              </a:spcBef>
              <a:buFontTx/>
              <a:buNone/>
              <a:defRPr sz="12000" b="0" i="0">
                <a:latin typeface="Morganite Book" pitchFamily="2" charset="77"/>
              </a:defRPr>
            </a:lvl1pPr>
          </a:lstStyle>
          <a:p>
            <a:r>
              <a:rPr lang="en-US" dirty="0"/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3905965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ird Page tear with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37B70D-84DB-F3E0-B372-6E76878EC526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496844" y="457199"/>
            <a:ext cx="7237957" cy="4377848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insert photo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A310A5F-77C1-2093-5E35-CD6DAA7BA452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4511457" y="4985358"/>
            <a:ext cx="7237956" cy="613775"/>
          </a:xfrm>
        </p:spPr>
        <p:txBody>
          <a:bodyPr>
            <a:normAutofit/>
          </a:bodyPr>
          <a:lstStyle>
            <a:lvl1pPr marL="0" indent="0" algn="l">
              <a:buNone/>
              <a:defRPr sz="1800" b="0" i="1" baseline="0">
                <a:solidFill>
                  <a:schemeClr val="tx1"/>
                </a:solidFill>
                <a:latin typeface="Satoshi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1C2982-92DF-FC14-B6CD-E028C731EF8F}"/>
              </a:ext>
            </a:extLst>
          </p:cNvPr>
          <p:cNvSpPr/>
          <p:nvPr userDrawn="1"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AF91997-B3EC-5208-9761-E870569A3C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8" y="457200"/>
            <a:ext cx="3317968" cy="1600200"/>
          </a:xfrm>
        </p:spPr>
        <p:txBody>
          <a:bodyPr anchor="b"/>
          <a:lstStyle>
            <a:lvl1pPr>
              <a:lnSpc>
                <a:spcPct val="70000"/>
              </a:lnSpc>
              <a:defRPr sz="6600">
                <a:solidFill>
                  <a:srgbClr val="FDB719"/>
                </a:solidFill>
              </a:defRPr>
            </a:lvl1pPr>
          </a:lstStyle>
          <a:p>
            <a:r>
              <a:rPr lang="en-US" dirty="0"/>
              <a:t>SECTION TITLE GOES HERE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412C0E3-7446-585F-499F-86269F1C685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57199" y="2057400"/>
            <a:ext cx="3317967" cy="873691"/>
          </a:xfrm>
        </p:spPr>
        <p:txBody>
          <a:bodyPr>
            <a:normAutofit/>
          </a:bodyPr>
          <a:lstStyle>
            <a:lvl1pPr marL="0" indent="0">
              <a:buNone/>
              <a:defRPr sz="2000" b="1" i="0" baseline="0">
                <a:solidFill>
                  <a:schemeClr val="bg1"/>
                </a:solidFill>
                <a:latin typeface="STIX Two Tex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Section Subtitle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0885108-9100-152D-DD98-15A32DED40BE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457199" y="3038876"/>
            <a:ext cx="3317967" cy="3474658"/>
          </a:xfrm>
        </p:spPr>
        <p:txBody>
          <a:bodyPr>
            <a:normAutofit/>
          </a:bodyPr>
          <a:lstStyle>
            <a:lvl1pPr marL="0" indent="0">
              <a:buNone/>
              <a:defRPr sz="2000" b="0" i="0" baseline="0">
                <a:solidFill>
                  <a:schemeClr val="bg1"/>
                </a:solidFill>
                <a:latin typeface="Satoshi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Section Introduction.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6552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BD458-27D5-9F56-1445-4DA314D40B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563517"/>
            <a:ext cx="11353800" cy="962714"/>
          </a:xfrm>
        </p:spPr>
        <p:txBody>
          <a:bodyPr tIns="0" anchor="b" anchorCtr="0"/>
          <a:lstStyle>
            <a:lvl1pPr>
              <a:defRPr sz="8000"/>
            </a:lvl1pPr>
          </a:lstStyle>
          <a:p>
            <a:r>
              <a:rPr lang="en-US" dirty="0"/>
              <a:t>TITLE GOES HERE IMPACT ALL CAPS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A68F1-BCBF-34FB-AFC5-C6AC9D3106A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" y="2171475"/>
            <a:ext cx="5562600" cy="352786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autem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58CCDB-93E2-1668-3BBA-C63A7DF00F0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2171475"/>
            <a:ext cx="5638800" cy="352786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autem vel </a:t>
            </a:r>
            <a:r>
              <a:rPr lang="en-US" dirty="0" err="1"/>
              <a:t>eum</a:t>
            </a:r>
            <a:r>
              <a:rPr lang="en-US" dirty="0"/>
              <a:t> </a:t>
            </a:r>
            <a:r>
              <a:rPr lang="en-US" dirty="0" err="1"/>
              <a:t>iriure</a:t>
            </a:r>
            <a:r>
              <a:rPr lang="en-US" dirty="0"/>
              <a:t> dolor in </a:t>
            </a:r>
            <a:r>
              <a:rPr lang="en-US" dirty="0" err="1"/>
              <a:t>hendrerit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.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FE13802-6D3A-8B19-44FB-2D71586AE15D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457200" y="1416703"/>
            <a:ext cx="11353800" cy="432149"/>
          </a:xfrm>
        </p:spPr>
        <p:txBody>
          <a:bodyPr>
            <a:normAutofit/>
          </a:bodyPr>
          <a:lstStyle>
            <a:lvl1pPr marL="0" indent="0" algn="l">
              <a:buNone/>
              <a:defRPr sz="2000" b="1" i="0">
                <a:solidFill>
                  <a:schemeClr val="accent6"/>
                </a:solidFill>
                <a:latin typeface="STIX Two Tex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46393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and bullet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80645C-79AE-0433-AF81-338AC97A8EBD}"/>
              </a:ext>
            </a:extLst>
          </p:cNvPr>
          <p:cNvSpPr/>
          <p:nvPr userDrawn="1"/>
        </p:nvSpPr>
        <p:spPr>
          <a:xfrm>
            <a:off x="6319521" y="0"/>
            <a:ext cx="5872479" cy="5943600"/>
          </a:xfrm>
          <a:prstGeom prst="rect">
            <a:avLst/>
          </a:prstGeom>
          <a:solidFill>
            <a:schemeClr val="bg2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14E998D-22F8-2129-E34D-BC144CDC54E5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457199" y="3038876"/>
            <a:ext cx="5638801" cy="2560258"/>
          </a:xfrm>
        </p:spPr>
        <p:txBody>
          <a:bodyPr>
            <a:normAutofit/>
          </a:bodyPr>
          <a:lstStyle>
            <a:lvl1pPr marL="0" indent="0">
              <a:buNone/>
              <a:defRPr sz="2000" b="0" i="0" baseline="0">
                <a:solidFill>
                  <a:schemeClr val="tx1"/>
                </a:solidFill>
                <a:latin typeface="Satoshi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dolore 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.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27546BEC-FEEA-5186-38AB-8DE55A611A65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6672470" y="457200"/>
            <a:ext cx="5062330" cy="5141933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000" b="0" i="0" baseline="0">
                <a:solidFill>
                  <a:schemeClr val="tx1"/>
                </a:solidFill>
                <a:latin typeface="Satoshi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</a:t>
            </a:r>
          </a:p>
          <a:p>
            <a:pPr lvl="0"/>
            <a:r>
              <a:rPr lang="en-US" dirty="0"/>
              <a:t>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endParaRPr lang="en-US" dirty="0"/>
          </a:p>
          <a:p>
            <a:pPr lvl="0"/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diam</a:t>
            </a:r>
          </a:p>
          <a:p>
            <a:pPr lvl="0"/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euismod</a:t>
            </a:r>
            <a:endParaRPr lang="en-US" dirty="0"/>
          </a:p>
          <a:p>
            <a:pPr lvl="0"/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dolor</a:t>
            </a:r>
          </a:p>
          <a:p>
            <a:pPr lvl="0"/>
            <a:r>
              <a:rPr lang="en-US" dirty="0"/>
              <a:t>Magna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Ut </a:t>
            </a:r>
            <a:r>
              <a:rPr lang="en-US" dirty="0" err="1"/>
              <a:t>wisi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  <a:p>
            <a:pPr lvl="0"/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</a:t>
            </a:r>
            <a:r>
              <a:rPr lang="en-US" dirty="0" err="1"/>
              <a:t>exerci</a:t>
            </a:r>
            <a:r>
              <a:rPr lang="en-US" dirty="0"/>
              <a:t> </a:t>
            </a:r>
            <a:r>
              <a:rPr lang="en-US" dirty="0" err="1"/>
              <a:t>tation</a:t>
            </a:r>
            <a:r>
              <a:rPr lang="en-US" dirty="0"/>
              <a:t> </a:t>
            </a:r>
            <a:r>
              <a:rPr lang="en-US" dirty="0" err="1"/>
              <a:t>ullamcorper</a:t>
            </a:r>
            <a:r>
              <a:rPr lang="en-US" dirty="0"/>
              <a:t>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F545BC9-A711-8234-6BF9-9C622988ACB4}"/>
              </a:ext>
            </a:extLst>
          </p:cNvPr>
          <p:cNvCxnSpPr>
            <a:cxnSpLocks/>
          </p:cNvCxnSpPr>
          <p:nvPr userDrawn="1"/>
        </p:nvCxnSpPr>
        <p:spPr>
          <a:xfrm flipV="1">
            <a:off x="13909850" y="3886200"/>
            <a:ext cx="0" cy="5003605"/>
          </a:xfrm>
          <a:prstGeom prst="line">
            <a:avLst/>
          </a:prstGeom>
          <a:ln w="2222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28C5F89A-DE76-E0CF-EDCE-FD6AB7C6CE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8" y="457200"/>
            <a:ext cx="5638800" cy="1600200"/>
          </a:xfrm>
        </p:spPr>
        <p:txBody>
          <a:bodyPr anchor="b"/>
          <a:lstStyle>
            <a:lvl1pPr>
              <a:lnSpc>
                <a:spcPct val="7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GOES HERE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3B67A4-7AE6-BF8D-C8FB-26A64E6CD65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57199" y="2057400"/>
            <a:ext cx="5638798" cy="873691"/>
          </a:xfrm>
        </p:spPr>
        <p:txBody>
          <a:bodyPr>
            <a:normAutofit/>
          </a:bodyPr>
          <a:lstStyle>
            <a:lvl1pPr marL="0" indent="0">
              <a:buNone/>
              <a:defRPr sz="2000" b="1" i="0" baseline="0">
                <a:solidFill>
                  <a:schemeClr val="accent6"/>
                </a:solidFill>
                <a:latin typeface="STIX Two Tex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Section Subtitle</a:t>
            </a:r>
          </a:p>
        </p:txBody>
      </p:sp>
    </p:spTree>
    <p:extLst>
      <p:ext uri="{BB962C8B-B14F-4D97-AF65-F5344CB8AC3E}">
        <p14:creationId xmlns:p14="http://schemas.microsoft.com/office/powerpoint/2010/main" val="4251567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5402CF-4250-5A54-A4E5-6E5C71FDC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5EFDF-C5C4-2206-3A2A-5DE1D7B3C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7ACD6-DD9A-A35D-AEDF-91CA85871C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Satoshi" pitchFamily="2" charset="77"/>
              </a:defRPr>
            </a:lvl1pPr>
          </a:lstStyle>
          <a:p>
            <a:fld id="{B4EDEFB0-C651-194D-B857-10A73A06DC98}" type="datetimeFigureOut">
              <a:rPr lang="en-US" smtClean="0"/>
              <a:pPr/>
              <a:t>11/5/2025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C5F9B-F5B8-D5C3-B648-781F9DBC41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Satoshi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C6102-38BE-2752-C9F4-16E791527F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Satoshi" pitchFamily="2" charset="77"/>
              </a:defRPr>
            </a:lvl1pPr>
          </a:lstStyle>
          <a:p>
            <a:fld id="{F1662D96-D004-FA47-B233-60E2CE709D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28EC0D-8427-FBC2-21AB-E5B45B91BE01}"/>
              </a:ext>
            </a:extLst>
          </p:cNvPr>
          <p:cNvSpPr/>
          <p:nvPr userDrawn="1"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1CAB5C9C-D844-0861-6F77-349A509AD27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4431" b="4431"/>
          <a:stretch/>
        </p:blipFill>
        <p:spPr>
          <a:xfrm>
            <a:off x="9243391" y="6105450"/>
            <a:ext cx="2223893" cy="58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953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7" r:id="rId3"/>
    <p:sldLayoutId id="214748370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200" b="0" i="0" kern="1200">
          <a:solidFill>
            <a:schemeClr val="tx1"/>
          </a:solidFill>
          <a:latin typeface="Morganite Medium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Satoshi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Satoshi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Satoshi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Satoshi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Satoshi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EBAA49F-4A3D-8EDA-CAC6-24D40ED79B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886" y="3844203"/>
            <a:ext cx="10502536" cy="121221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CMP_SC 8001-06 – Advanced Topics in Computer Science</a:t>
            </a:r>
          </a:p>
          <a:p>
            <a:r>
              <a:rPr lang="en-US" dirty="0"/>
              <a:t>Team: </a:t>
            </a:r>
            <a:r>
              <a:rPr lang="en-US" dirty="0" err="1"/>
              <a:t>Srikar</a:t>
            </a:r>
            <a:r>
              <a:rPr lang="en-US" dirty="0"/>
              <a:t> Alla | Souvik Bag | Ziyang Jia</a:t>
            </a:r>
          </a:p>
          <a:p>
            <a:r>
              <a:rPr lang="en-US" dirty="0"/>
              <a:t>Instructor: Prof. T. Malik | Fall 2025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ED33DB-F738-03F0-274F-A7F5C633D7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36172" y="2411186"/>
            <a:ext cx="10509250" cy="1012082"/>
          </a:xfrm>
        </p:spPr>
        <p:txBody>
          <a:bodyPr>
            <a:noAutofit/>
          </a:bodyPr>
          <a:lstStyle/>
          <a:p>
            <a:r>
              <a:rPr lang="en-US" sz="9600" dirty="0"/>
              <a:t>Audio Sentiment </a:t>
            </a:r>
          </a:p>
          <a:p>
            <a:r>
              <a:rPr lang="en-US" sz="9600" dirty="0"/>
              <a:t>Analysis Pipeline</a:t>
            </a:r>
            <a:endParaRPr lang="en-US" sz="9600" b="1" dirty="0"/>
          </a:p>
        </p:txBody>
      </p:sp>
    </p:spTree>
    <p:extLst>
      <p:ext uri="{BB962C8B-B14F-4D97-AF65-F5344CB8AC3E}">
        <p14:creationId xmlns:p14="http://schemas.microsoft.com/office/powerpoint/2010/main" val="1570418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299FC-A06A-9EB2-BBDD-CA65687FDFB3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rPr lang="en-US" dirty="0"/>
              <a:t>Goal and Objective</a:t>
            </a:r>
          </a:p>
          <a:p>
            <a:r>
              <a:rPr lang="en-US" dirty="0"/>
              <a:t>Pipeline Architecture Overview</a:t>
            </a:r>
          </a:p>
          <a:p>
            <a:r>
              <a:rPr lang="en-US" dirty="0"/>
              <a:t>Implementation Plan</a:t>
            </a:r>
          </a:p>
          <a:p>
            <a:r>
              <a:rPr lang="en-US" dirty="0"/>
              <a:t>Milestone 1</a:t>
            </a:r>
          </a:p>
          <a:p>
            <a:r>
              <a:rPr lang="en-US" dirty="0"/>
              <a:t>Milestone 2</a:t>
            </a:r>
          </a:p>
          <a:p>
            <a:r>
              <a:rPr lang="en-US" dirty="0"/>
              <a:t>Milestone 3</a:t>
            </a:r>
          </a:p>
          <a:p>
            <a:r>
              <a:rPr lang="en-US" dirty="0"/>
              <a:t>Conclusion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9E7477B-D1C5-9323-BC87-51838DFC2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155" y="3135086"/>
            <a:ext cx="5638800" cy="722671"/>
          </a:xfrm>
        </p:spPr>
        <p:txBody>
          <a:bodyPr>
            <a:noAutofit/>
          </a:bodyPr>
          <a:lstStyle/>
          <a:p>
            <a:r>
              <a:rPr lang="en-US" sz="6000" dirty="0"/>
              <a:t>   Table </a:t>
            </a:r>
            <a:br>
              <a:rPr lang="en-US" sz="6000" dirty="0"/>
            </a:br>
            <a:r>
              <a:rPr lang="en-US" sz="6000" dirty="0"/>
              <a:t>      of </a:t>
            </a:r>
            <a:br>
              <a:rPr lang="en-US" sz="6000" dirty="0"/>
            </a:br>
            <a:r>
              <a:rPr lang="en-US" sz="6000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1961966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BFC3F-2BC9-3BC5-0D2B-263533C5D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Goal and Objective</a:t>
            </a:r>
            <a:endParaRPr lang="en-US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8A32F-A007-2E67-D4E3-DE030FF16C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703615"/>
            <a:ext cx="10918371" cy="3995728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primary goal is to process raw audio inputs and generate sentiment predictions through sequential speech-to-text transcription and sentiment classification.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 aims to establish a modular and scalable architecture capable of integrating multiple ASR and sentiment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objective is to benchmark these model combinations based on accuracy, latency, throughput, and overall efficiency.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Ultimately, it seeks to evolve into an operational and deployable system suitable for real-time audio sentiment analysis.</a:t>
            </a:r>
          </a:p>
        </p:txBody>
      </p:sp>
    </p:spTree>
    <p:extLst>
      <p:ext uri="{BB962C8B-B14F-4D97-AF65-F5344CB8AC3E}">
        <p14:creationId xmlns:p14="http://schemas.microsoft.com/office/powerpoint/2010/main" val="3112498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D10E4-C008-623F-85B4-68CF86AA6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457199"/>
            <a:ext cx="4154925" cy="1106208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US" sz="4000" dirty="0"/>
              <a:t>Pipeline Architecture Overview</a:t>
            </a:r>
            <a:endParaRPr lang="en-US" sz="3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6FB873-BA76-BBD1-CC4F-D96ECCBC7809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122360" y="1691671"/>
            <a:ext cx="3809844" cy="4709130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pipeline follows a two-stage architecture that converts audio inputs into sentiment outputs through sequential processing.</a:t>
            </a:r>
          </a:p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In the first stage, Automatic Speech Recognition (ASR) models such as Whisper or Facebook S2T transcribe the audio into text.</a:t>
            </a:r>
          </a:p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In the second stage, transformer-based sentiment analysis models interpret the transcribed text to determine sentiment polarity (positive, negative, or neutral).</a:t>
            </a:r>
          </a:p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modular design allows independent substitution of ASR and sentiment models while evaluating performance using latency, throughput, accuracy, and SLA compliance metrics.</a:t>
            </a:r>
          </a:p>
        </p:txBody>
      </p:sp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EABE22BC-C517-77CB-12AB-BE2FD0BAC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334" y="879794"/>
            <a:ext cx="7063694" cy="470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817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2CA0C-F389-EDD1-8284-FBE342951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77C98-D02F-FBBD-45C9-5ECB9D5C1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Implementation Plan</a:t>
            </a:r>
            <a:endParaRPr lang="en-US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8A7BB-9FE2-5001-C3F1-AC49221920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703615"/>
            <a:ext cx="10918371" cy="3995728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Milestone 1 — Functional Pipeline &amp; Baseline Evaluation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Milestone 2 — Automation, Optimization &amp; Operationalization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Milestone 3 — Full </a:t>
            </a:r>
            <a:r>
              <a:rPr lang="en-US" dirty="0" err="1"/>
              <a:t>MLOps</a:t>
            </a:r>
            <a:r>
              <a:rPr lang="en-US" dirty="0"/>
              <a:t> lifecycle with CI/CD + monitoring(Future)</a:t>
            </a:r>
          </a:p>
        </p:txBody>
      </p:sp>
    </p:spTree>
    <p:extLst>
      <p:ext uri="{BB962C8B-B14F-4D97-AF65-F5344CB8AC3E}">
        <p14:creationId xmlns:p14="http://schemas.microsoft.com/office/powerpoint/2010/main" val="341483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B81A7-18C4-C13A-01CD-A614B06FF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C6253-729E-8416-5147-35F1CE207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716" y="458766"/>
            <a:ext cx="2726379" cy="444550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US" sz="4000" dirty="0"/>
              <a:t>Milestone 1</a:t>
            </a:r>
            <a:endParaRPr lang="en-US" sz="3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1A9CE-4225-865D-5BD3-AC0D3FFFACCB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209549" y="1307868"/>
            <a:ext cx="3683001" cy="5319965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goal for Milestone 1 is to implement at least one complete audio → text → sentiment pipeline and validate several alternative configurations.</a:t>
            </a:r>
          </a:p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ASR stage uses </a:t>
            </a:r>
            <a:r>
              <a:rPr lang="en-US" sz="1600" dirty="0" err="1"/>
              <a:t>AventIQ</a:t>
            </a:r>
            <a:r>
              <a:rPr lang="en-US" sz="1600" dirty="0"/>
              <a:t>-AI/Whisper and Facebook S2T as alternative speech-to-text backends.</a:t>
            </a:r>
          </a:p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sentiment stage evaluates nine Hugging Face transformer models (including </a:t>
            </a:r>
            <a:r>
              <a:rPr lang="en-US" sz="1600" dirty="0" err="1"/>
              <a:t>DistilBERT</a:t>
            </a:r>
            <a:r>
              <a:rPr lang="en-US" sz="1600" dirty="0"/>
              <a:t>, </a:t>
            </a:r>
            <a:r>
              <a:rPr lang="en-US" sz="1600" dirty="0" err="1"/>
              <a:t>RoBERTa</a:t>
            </a:r>
            <a:r>
              <a:rPr lang="en-US" sz="1600" dirty="0"/>
              <a:t>, and related variants) on the </a:t>
            </a:r>
            <a:r>
              <a:rPr lang="en-US" sz="1600" b="1" dirty="0" err="1"/>
              <a:t>DynamicSuperb</a:t>
            </a:r>
            <a:r>
              <a:rPr lang="en-US" sz="1600" b="1" dirty="0"/>
              <a:t> </a:t>
            </a:r>
            <a:r>
              <a:rPr lang="en-US" sz="1600" b="1" dirty="0" err="1"/>
              <a:t>Sentiment_Analysis_SLUE-VoxCeleb</a:t>
            </a:r>
            <a:r>
              <a:rPr lang="en-US" sz="1600" b="1" dirty="0"/>
              <a:t> dataset</a:t>
            </a:r>
            <a:r>
              <a:rPr lang="en-US" sz="1600" dirty="0"/>
              <a:t>.</a:t>
            </a:r>
          </a:p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Each configuration is assessed using latency, throughput, assertion-based accuracy, and SLA compliance as the primary evaluation metrics.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E95B22-A4FC-FC64-F3BA-FD2FD0BD590A}"/>
              </a:ext>
            </a:extLst>
          </p:cNvPr>
          <p:cNvSpPr txBox="1"/>
          <p:nvPr/>
        </p:nvSpPr>
        <p:spPr>
          <a:xfrm>
            <a:off x="4311535" y="357448"/>
            <a:ext cx="7935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DB719"/>
                </a:solidFill>
                <a:effectLst/>
                <a:uLnTx/>
                <a:uFillTx/>
                <a:latin typeface="Morganite Medium" pitchFamily="2" charset="77"/>
                <a:ea typeface="+mj-ea"/>
                <a:cs typeface="+mj-cs"/>
              </a:rPr>
              <a:t>Functional Pipeline &amp; Baseline Evaluation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EB3275-F27E-BB3D-ECD0-C5612D5E4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2885" y="2377623"/>
            <a:ext cx="7793182" cy="183771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80B57CE-2506-2201-0DD2-5B81D9C3F42C}"/>
              </a:ext>
            </a:extLst>
          </p:cNvPr>
          <p:cNvSpPr/>
          <p:nvPr/>
        </p:nvSpPr>
        <p:spPr>
          <a:xfrm>
            <a:off x="4675414" y="3429000"/>
            <a:ext cx="778329" cy="288471"/>
          </a:xfrm>
          <a:prstGeom prst="rect">
            <a:avLst/>
          </a:prstGeom>
          <a:solidFill>
            <a:srgbClr val="D8EC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353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636B1-9532-D052-8628-BA80D9A5C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C908B-A580-C12B-8CB6-2BEC7843D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716" y="458766"/>
            <a:ext cx="2726379" cy="444550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US" sz="4000" dirty="0"/>
              <a:t>Milestone 1</a:t>
            </a:r>
            <a:endParaRPr lang="en-US" sz="3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304B42-E151-FDE2-F82C-FB058B7FB584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155121" y="1538035"/>
            <a:ext cx="3801837" cy="5319965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Implemented 18 pipeline configurations by combining 2 ASR backends with 9 transformer-based sentiment models.</a:t>
            </a:r>
          </a:p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Adopted a modular architecture that allows ASR and sentiment components to be swapped independently.</a:t>
            </a:r>
          </a:p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Established a fully functional end-to-end pipeline implemented and tested in </a:t>
            </a:r>
            <a:r>
              <a:rPr lang="en-US" sz="1600" dirty="0" err="1"/>
              <a:t>Jupyter</a:t>
            </a:r>
            <a:r>
              <a:rPr lang="en-US" sz="1600" dirty="0"/>
              <a:t>/Python.</a:t>
            </a:r>
          </a:p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Delivered all required artifacts, including the written report, Docker container, and shared GitHub repository (e2eml-audio).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4E548A-40BD-CEDB-A294-A5D98AD0EFC7}"/>
              </a:ext>
            </a:extLst>
          </p:cNvPr>
          <p:cNvSpPr txBox="1"/>
          <p:nvPr/>
        </p:nvSpPr>
        <p:spPr>
          <a:xfrm>
            <a:off x="5791993" y="0"/>
            <a:ext cx="4866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DB719"/>
                </a:solidFill>
                <a:effectLst/>
                <a:uLnTx/>
                <a:uFillTx/>
                <a:latin typeface="Morganite Medium" pitchFamily="2" charset="77"/>
                <a:ea typeface="+mj-ea"/>
                <a:cs typeface="+mj-cs"/>
              </a:rPr>
              <a:t>Deliverables &amp; Results</a:t>
            </a:r>
            <a:endParaRPr lang="en-US" dirty="0"/>
          </a:p>
        </p:txBody>
      </p:sp>
      <p:pic>
        <p:nvPicPr>
          <p:cNvPr id="8" name="Picture 7" descr="A group of graphs and charts&#10;&#10;AI-generated content may be incorrect.">
            <a:extLst>
              <a:ext uri="{FF2B5EF4-FFF2-40B4-BE49-F238E27FC236}">
                <a16:creationId xmlns:a16="http://schemas.microsoft.com/office/drawing/2014/main" id="{2684CC45-3369-3022-BFAE-8B6452027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1" y="591319"/>
            <a:ext cx="7084386" cy="5314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606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1833F-424B-D59F-4CD2-BB159B688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3B497-AD68-4BC2-DC33-85441371E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716" y="458766"/>
            <a:ext cx="2726379" cy="444550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US" sz="4000" dirty="0"/>
              <a:t>Milestone 2</a:t>
            </a:r>
            <a:endParaRPr lang="en-US" sz="3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F36430-3832-618A-E60D-03C3AFC2FAF0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209549" y="1307868"/>
            <a:ext cx="3683001" cy="5319965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goal for Milestone 2 is to evolve the system from a functional prototype into an operational benchmark suite.</a:t>
            </a:r>
          </a:p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Pipeline execution is automated across multiple ASR and sentiment model combinations to systematically generate results.</a:t>
            </a:r>
          </a:p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Sentiment models are optimized using FP32 and FP16 ONNX-based quantization to reduce latency and improve efficiency.</a:t>
            </a:r>
          </a:p>
          <a:p>
            <a:pPr marL="34290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 err="1"/>
              <a:t>MinIO</a:t>
            </a:r>
            <a:r>
              <a:rPr lang="en-US" sz="1600" dirty="0"/>
              <a:t> and Redis are integrated into the architecture to manage model/metrics storage and messaging, enabling automatic collection of latency, accuracy, and throughput metrics.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4551D9-61BD-8515-860D-369E85AED2EA}"/>
              </a:ext>
            </a:extLst>
          </p:cNvPr>
          <p:cNvSpPr txBox="1"/>
          <p:nvPr/>
        </p:nvSpPr>
        <p:spPr>
          <a:xfrm>
            <a:off x="4093821" y="26407"/>
            <a:ext cx="82614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DB719"/>
                </a:solidFill>
                <a:effectLst/>
                <a:uLnTx/>
                <a:uFillTx/>
                <a:latin typeface="Morganite Medium" pitchFamily="2" charset="77"/>
                <a:ea typeface="+mj-ea"/>
                <a:cs typeface="+mj-cs"/>
              </a:rPr>
              <a:t>Automation, Optimization &amp; Operationalization</a:t>
            </a:r>
            <a:endParaRPr lang="en-US" sz="3200" dirty="0"/>
          </a:p>
        </p:txBody>
      </p:sp>
      <p:pic>
        <p:nvPicPr>
          <p:cNvPr id="3" name="Picture 2" descr="A group of graphs and charts&#10;&#10;AI-generated content may be incorrect.">
            <a:extLst>
              <a:ext uri="{FF2B5EF4-FFF2-40B4-BE49-F238E27FC236}">
                <a16:creationId xmlns:a16="http://schemas.microsoft.com/office/drawing/2014/main" id="{E6129D88-9F4D-C827-31E0-090548380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351" y="611182"/>
            <a:ext cx="7037476" cy="5265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772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4C9BA-6BAC-D23A-7EA4-5EFF7F25E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78EE357-4B4E-B59C-58D0-33AEED99B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6199"/>
            <a:ext cx="12192000" cy="454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931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8E806-E48F-B196-74AC-72B4EE9D2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86C97-070D-22CB-9269-DA608C425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Milestone 2 - </a:t>
            </a:r>
            <a:r>
              <a:rPr lang="en-US" sz="5400" dirty="0">
                <a:solidFill>
                  <a:srgbClr val="FDB719"/>
                </a:solidFill>
              </a:rPr>
              <a:t>Deliverables</a:t>
            </a:r>
            <a:endParaRPr lang="en-US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D0257-1DAD-624B-8A12-22E9DC0BB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703615"/>
            <a:ext cx="10918371" cy="3995728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All optimized ONNX model variants are securely stored and versioned in </a:t>
            </a:r>
            <a:r>
              <a:rPr lang="en-US" dirty="0" err="1"/>
              <a:t>MinIO</a:t>
            </a:r>
            <a:r>
              <a:rPr lang="en-US" dirty="0"/>
              <a:t>, ensuring centralized model management.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 automated benchmark loop systematically executes multiple ASR × Sentiment model combinations to collect performance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Quantized sentiment models (FP32 and FP16) have been successfully evaluated for latency, accuracy, and efficiency improvements.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consolidated merged metrics file has been generated for comprehensive visual analysis and performance comparison.</a:t>
            </a:r>
          </a:p>
        </p:txBody>
      </p:sp>
    </p:spTree>
    <p:extLst>
      <p:ext uri="{BB962C8B-B14F-4D97-AF65-F5344CB8AC3E}">
        <p14:creationId xmlns:p14="http://schemas.microsoft.com/office/powerpoint/2010/main" val="2014608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F4EBD-EA5E-E27C-EF61-0CBE4C283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92E67-0E8F-EDB5-BA41-8EF0E32E3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Optimization Insights</a:t>
            </a:r>
            <a:endParaRPr lang="en-US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06031-F41E-A26C-CC4E-8688A60B06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703615"/>
            <a:ext cx="10918371" cy="3995728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Quantization achieved approximately 40% faster inference while maintaining less than 5% accuracy degradation across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 err="1"/>
              <a:t>gRPC</a:t>
            </a:r>
            <a:r>
              <a:rPr lang="en-US" dirty="0"/>
              <a:t>-based communication layer introduced an overhead of under 3%, even with asynchronous scaling.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optimal configuration was identified as FP16 </a:t>
            </a:r>
            <a:r>
              <a:rPr lang="en-US" dirty="0" err="1"/>
              <a:t>RoBERTa</a:t>
            </a:r>
            <a:r>
              <a:rPr lang="en-US" dirty="0"/>
              <a:t> combined with INT8 Whisper, deployed using 2 replicas with 1 CPU each.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choice of ASR backend (Whisper vs. S2T) influenced overall sentiment accuracy by roughly ±2%, highlighting upstream dependency effects.</a:t>
            </a:r>
          </a:p>
        </p:txBody>
      </p:sp>
    </p:spTree>
    <p:extLst>
      <p:ext uri="{BB962C8B-B14F-4D97-AF65-F5344CB8AC3E}">
        <p14:creationId xmlns:p14="http://schemas.microsoft.com/office/powerpoint/2010/main" val="4216956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13D8D-67B0-A1BC-58CB-91AB38CE1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280BA-5F11-E9E1-26BC-867F446FC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0314" y="307703"/>
            <a:ext cx="8567057" cy="962714"/>
          </a:xfrm>
        </p:spPr>
        <p:txBody>
          <a:bodyPr>
            <a:normAutofit/>
          </a:bodyPr>
          <a:lstStyle/>
          <a:p>
            <a:r>
              <a:rPr lang="en-US" sz="5400" dirty="0"/>
              <a:t>Milestone 3 — What Remains</a:t>
            </a:r>
            <a:endParaRPr lang="en-US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D4182-95CC-42E9-8EB7-DA8F5BE18D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703614"/>
            <a:ext cx="5796644" cy="4076699"/>
          </a:xfrm>
        </p:spPr>
        <p:txBody>
          <a:bodyPr>
            <a:normAutofit fontScale="92500" lnSpcReduction="20000"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Develop an analysis notebook to visualize latency, accuracy, throughput, and cost trade-offs across all model configurations.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Containerize each service component (ASR, Sentiment, and Worker) to enable consistent deployment and controlled scaling experiments.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Deploy the complete pipeline using Kubernetes or Docker Compose for live SLA monitoring, autoscaling, and performance evaluation under production-like conditions.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Establish a full </a:t>
            </a:r>
            <a:r>
              <a:rPr lang="en-US" dirty="0" err="1"/>
              <a:t>MLOps</a:t>
            </a:r>
            <a:r>
              <a:rPr lang="en-US" dirty="0"/>
              <a:t> lifecycle with CI/CD pipelines, observability, and continuous monitoring for model and system health.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EA6686-4E2E-18E1-1888-F7BF7298CAE2}"/>
              </a:ext>
            </a:extLst>
          </p:cNvPr>
          <p:cNvSpPr txBox="1"/>
          <p:nvPr/>
        </p:nvSpPr>
        <p:spPr>
          <a:xfrm>
            <a:off x="6539345" y="1618304"/>
            <a:ext cx="5195456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Far Future :</a:t>
            </a:r>
          </a:p>
          <a:p>
            <a:pPr algn="just"/>
            <a:endParaRPr lang="en-US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Expose a real-time API for audio sentiment analysis to support interactive and low-latency applications.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Implement adaptive model selection strategies that choose ASR and sentiment models based on input domain, language, or resource constraints.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Extend the pipeline toward multimodal emotion analysis by integrating audio with visual signals (e.g., facial expressions) for richer affective understanding.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354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C3F19-0949-2EC2-761C-17B3DAAE9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1871E-F962-E840-240E-9C658E6DE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0314" y="307703"/>
            <a:ext cx="8567057" cy="962714"/>
          </a:xfrm>
        </p:spPr>
        <p:txBody>
          <a:bodyPr>
            <a:normAutofit/>
          </a:bodyPr>
          <a:lstStyle/>
          <a:p>
            <a:r>
              <a:rPr lang="en-US" sz="5400" dirty="0"/>
              <a:t>References &amp; Links</a:t>
            </a:r>
            <a:endParaRPr lang="en-US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9EAC7-FE89-FBAC-DB29-BD0BD2EFBE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8" y="1703614"/>
            <a:ext cx="11228615" cy="4076699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GitHub Repo: https://github.com/souvik-bag/e2eml-audio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Dataset: https://huggingface.co/datasets/DynamicSuperb/Sentiment_Analysis_SLUE-VoxCeleb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Models: </a:t>
            </a:r>
            <a:r>
              <a:rPr lang="en-US" dirty="0" err="1"/>
              <a:t>AventIQ</a:t>
            </a:r>
            <a:r>
              <a:rPr lang="en-US" dirty="0"/>
              <a:t>-AI/whisper-audio-to-text, </a:t>
            </a:r>
            <a:r>
              <a:rPr lang="en-US" dirty="0" err="1"/>
              <a:t>facebook</a:t>
            </a:r>
            <a:r>
              <a:rPr lang="en-US" dirty="0"/>
              <a:t>/s2t-small-librispeech-asr, </a:t>
            </a:r>
            <a:r>
              <a:rPr lang="en-US" dirty="0" err="1"/>
              <a:t>RoBERTa</a:t>
            </a:r>
            <a:r>
              <a:rPr lang="en-US" dirty="0"/>
              <a:t>, </a:t>
            </a:r>
            <a:r>
              <a:rPr lang="en-US" dirty="0" err="1"/>
              <a:t>DistilBERT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3178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0BF58-F4CE-0856-196C-EBD47CC1B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4331A30E-998A-92B4-A80D-3CE2FF249FF3}"/>
              </a:ext>
            </a:extLst>
          </p:cNvPr>
          <p:cNvSpPr txBox="1">
            <a:spLocks/>
          </p:cNvSpPr>
          <p:nvPr/>
        </p:nvSpPr>
        <p:spPr>
          <a:xfrm>
            <a:off x="3276598" y="2275115"/>
            <a:ext cx="4637316" cy="215537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0" i="0" kern="1200">
                <a:solidFill>
                  <a:schemeClr val="tx1"/>
                </a:solidFill>
                <a:latin typeface="Morganite Medium" pitchFamily="2" charset="77"/>
                <a:ea typeface="+mj-ea"/>
                <a:cs typeface="+mj-cs"/>
              </a:defRPr>
            </a:lvl1pPr>
          </a:lstStyle>
          <a:p>
            <a:r>
              <a:rPr lang="en-US" sz="8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35700669"/>
      </p:ext>
    </p:extLst>
  </p:cSld>
  <p:clrMapOvr>
    <a:masterClrMapping/>
  </p:clrMapOvr>
</p:sld>
</file>

<file path=ppt/theme/theme1.xml><?xml version="1.0" encoding="utf-8"?>
<a:theme xmlns:a="http://schemas.openxmlformats.org/drawingml/2006/main" name="MizzouAvenir">
  <a:themeElements>
    <a:clrScheme name="Office">
      <a:dk1>
        <a:srgbClr val="000000"/>
      </a:dk1>
      <a:lt1>
        <a:srgbClr val="FFFFFF"/>
      </a:lt1>
      <a:dk2>
        <a:srgbClr val="FDB719"/>
      </a:dk2>
      <a:lt2>
        <a:srgbClr val="D4D4D4"/>
      </a:lt2>
      <a:accent1>
        <a:srgbClr val="7F4A0F"/>
      </a:accent1>
      <a:accent2>
        <a:srgbClr val="4A596E"/>
      </a:accent2>
      <a:accent3>
        <a:srgbClr val="6E0026"/>
      </a:accent3>
      <a:accent4>
        <a:srgbClr val="EF553F"/>
      </a:accent4>
      <a:accent5>
        <a:srgbClr val="008486"/>
      </a:accent5>
      <a:accent6>
        <a:srgbClr val="453D3F"/>
      </a:accent6>
      <a:hlink>
        <a:srgbClr val="99CECF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4" id="{6CA60510-529C-B246-BEA5-B242B82DBCE7}" vid="{2270A643-6FA6-1B4D-9C51-9394BEF6863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E19D1F250E694BAAD8C54BFD6B67B2" ma:contentTypeVersion="19" ma:contentTypeDescription="Create a new document." ma:contentTypeScope="" ma:versionID="bfb456dbba9731329b7893c6e3da8bb1">
  <xsd:schema xmlns:xsd="http://www.w3.org/2001/XMLSchema" xmlns:xs="http://www.w3.org/2001/XMLSchema" xmlns:p="http://schemas.microsoft.com/office/2006/metadata/properties" xmlns:ns2="8f59010d-bfae-4690-b442-17aac1929a53" xmlns:ns3="4e822213-79e0-466b-8a07-6ccb94f3e524" targetNamespace="http://schemas.microsoft.com/office/2006/metadata/properties" ma:root="true" ma:fieldsID="e6d68caea3b60645aec81411a6c435e7" ns2:_="" ns3:_="">
    <xsd:import namespace="8f59010d-bfae-4690-b442-17aac1929a53"/>
    <xsd:import namespace="4e822213-79e0-466b-8a07-6ccb94f3e5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59010d-bfae-4690-b442-17aac1929a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3e20e570-3a27-4eff-9ea0-d3488a33fbf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822213-79e0-466b-8a07-6ccb94f3e524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6ec45b42-71d2-42b2-82cb-677ce56ef8ee}" ma:internalName="TaxCatchAll" ma:showField="CatchAllData" ma:web="4e822213-79e0-466b-8a07-6ccb94f3e5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e822213-79e0-466b-8a07-6ccb94f3e524" xsi:nil="true"/>
    <lcf76f155ced4ddcb4097134ff3c332f xmlns="8f59010d-bfae-4690-b442-17aac1929a5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2700D9B-1BD4-47D8-A044-2D3FBBCEB4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59010d-bfae-4690-b442-17aac1929a53"/>
    <ds:schemaRef ds:uri="4e822213-79e0-466b-8a07-6ccb94f3e5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94B16E3-E4DE-4D9A-82E8-424E5F04050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DC97F47-E1B0-48D6-A297-AB42E775E574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4e822213-79e0-466b-8a07-6ccb94f3e524"/>
    <ds:schemaRef ds:uri="8f59010d-bfae-4690-b442-17aac1929a5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CV_Paper_2</Template>
  <TotalTime>102</TotalTime>
  <Words>884</Words>
  <Application>Microsoft Office PowerPoint</Application>
  <PresentationFormat>Widescreen</PresentationFormat>
  <Paragraphs>71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Arial</vt:lpstr>
      <vt:lpstr>Morganite Book</vt:lpstr>
      <vt:lpstr>Morganite Medium</vt:lpstr>
      <vt:lpstr>Satoshi</vt:lpstr>
      <vt:lpstr>STIX Two Text</vt:lpstr>
      <vt:lpstr>MizzouAvenir</vt:lpstr>
      <vt:lpstr>PowerPoint Presentation</vt:lpstr>
      <vt:lpstr>   Table        of  Contents</vt:lpstr>
      <vt:lpstr>Goal and Objective</vt:lpstr>
      <vt:lpstr>Pipeline Architecture Overview</vt:lpstr>
      <vt:lpstr>Implementation Plan</vt:lpstr>
      <vt:lpstr>Milestone 1</vt:lpstr>
      <vt:lpstr>Milestone 1</vt:lpstr>
      <vt:lpstr>Milestone 2</vt:lpstr>
      <vt:lpstr>PowerPoint Presentation</vt:lpstr>
      <vt:lpstr>Milestone 2 - Deliverables</vt:lpstr>
      <vt:lpstr>Optimization Insights</vt:lpstr>
      <vt:lpstr>Milestone 3 — What Remains</vt:lpstr>
      <vt:lpstr>References &amp; Links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SRIKAR ALLA</dc:creator>
  <cp:lastModifiedBy>SRIKAR ALLA</cp:lastModifiedBy>
  <cp:revision>15</cp:revision>
  <dcterms:created xsi:type="dcterms:W3CDTF">2025-10-29T05:25:09Z</dcterms:created>
  <dcterms:modified xsi:type="dcterms:W3CDTF">2025-11-05T18:08:46Z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0x010100D0E19D1F250E694BAAD8C54BFD6B67B2</vt:lpwstr>
  </property>
  <property fmtid="{D5CDD505-2E9C-101B-9397-08002B2CF9AE}" pid="3" name="MediaServiceImageTags">
    <vt:lpwstr/>
  </property>
</Properties>
</file>